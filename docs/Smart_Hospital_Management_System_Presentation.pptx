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">
    <p:bg>
      <p:bgPr>
        <a:solidFill>
          <a:srgbClr val="F7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4008"/>
            <a:ext cx="12191695" cy="0"/>
          </a:xfrm>
          <a:prstGeom prst="line">
            <a:avLst/>
          </a:prstGeom>
          <a:noFill/>
          <a:ln w="50800">
            <a:solidFill>
              <a:srgbClr val="D71920"/>
            </a:solidFill>
            <a:prstDash val="solid"/>
          </a:ln>
        </p:spPr>
      </p:sp>
      <p:pic>
        <p:nvPicPr>
          <p:cNvPr id="3" name="Image 0" descr="/mnt/data/Smart_Hospital_Project/assets/chandigarh_university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82880"/>
            <a:ext cx="1325880" cy="4937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452360" y="256032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  |  COMPUTER PROGRAMMING (26CAH-101)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6510528"/>
            <a:ext cx="11274552" cy="0"/>
          </a:xfrm>
          <a:prstGeom prst="line">
            <a:avLst/>
          </a:prstGeom>
          <a:noFill/>
          <a:ln w="10160">
            <a:solidFill>
              <a:srgbClr val="D8E0E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5488" y="6565392"/>
            <a:ext cx="8686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HOSPITAL MANAGEMENT SYSTEM  •  ACADEMIC PROJECT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10287000" y="6565392"/>
            <a:ext cx="1417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BCA  •  CU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65592" y="0"/>
            <a:ext cx="4026103" cy="6858000"/>
          </a:xfrm>
          <a:prstGeom prst="rect">
            <a:avLst>
              <a:gd name="adj" fmla="val 1817"/>
            </a:avLst>
          </a:prstGeom>
          <a:solidFill>
            <a:srgbClr val="172B4D"/>
          </a:solidFill>
          <a:ln w="11430">
            <a:solidFill>
              <a:srgbClr val="172B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37576" y="0"/>
            <a:ext cx="128016" cy="6858000"/>
          </a:xfrm>
          <a:prstGeom prst="rect">
            <a:avLst>
              <a:gd name="adj" fmla="val 57143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pic>
        <p:nvPicPr>
          <p:cNvPr id="4" name="Image 0" descr="/mnt/data/Smart_Hospital_Project/assets/chandigarh_university_lo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9768"/>
            <a:ext cx="2240280" cy="8412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21792" y="14356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60" kern="0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INSTITUTE OF COMPUTING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21792" y="1901952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6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PROJECT PRESENTATION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21792" y="2240280"/>
            <a:ext cx="6949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HOSPITAL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SYSTEM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640080" y="3813048"/>
            <a:ext cx="6903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records • Emergency triage • Bed allocation • Discharge billing</a:t>
            </a:r>
            <a:endParaRPr lang="en-US" sz="1320" dirty="0"/>
          </a:p>
        </p:txBody>
      </p:sp>
      <p:sp>
        <p:nvSpPr>
          <p:cNvPr id="9" name="Shape 6"/>
          <p:cNvSpPr/>
          <p:nvPr/>
        </p:nvSpPr>
        <p:spPr>
          <a:xfrm>
            <a:off x="640080" y="4407408"/>
            <a:ext cx="6355080" cy="0"/>
          </a:xfrm>
          <a:prstGeom prst="line">
            <a:avLst/>
          </a:prstGeom>
          <a:noFill/>
          <a:ln w="30480">
            <a:solidFill>
              <a:srgbClr val="D719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461772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Programming  |  26CAH-101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507492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Palash Behura   •   UID 26BCA10216   •   BCA-2(A)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543153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Year 2026–2027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641080" y="94183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C PROGRAM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CONNECTED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WORKFLOWS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823960" y="2423160"/>
            <a:ext cx="2606040" cy="0"/>
          </a:xfrm>
          <a:prstGeom prst="line">
            <a:avLst/>
          </a:prstGeom>
          <a:noFill/>
          <a:ln w="16510">
            <a:solidFill>
              <a:srgbClr val="4256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41080" y="28163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3"/>
          <p:cNvSpPr/>
          <p:nvPr/>
        </p:nvSpPr>
        <p:spPr>
          <a:xfrm>
            <a:off x="8641080" y="33649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DE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9665208" y="28163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C9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700" dirty="0"/>
          </a:p>
        </p:txBody>
      </p:sp>
      <p:sp>
        <p:nvSpPr>
          <p:cNvPr id="18" name="Text 15"/>
          <p:cNvSpPr/>
          <p:nvPr/>
        </p:nvSpPr>
        <p:spPr>
          <a:xfrm>
            <a:off x="9665208" y="33649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DE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 slots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689336" y="2816352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0689336" y="336499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DDE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613648" y="432511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E0E7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STRUCTURES • ARRAYS • FILES • RECURSION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549640" y="60624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DDE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Chandigarh University  •  Mohali, Punjab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47120" y="651052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AAB5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INTRODUCTION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Snapshot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099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menu brings several related administrative tasks into a single console workflow.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49300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331720"/>
            <a:ext cx="68580" cy="1874520"/>
          </a:xfrm>
          <a:prstGeom prst="rect">
            <a:avLst>
              <a:gd name="adj" fmla="val 10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87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FLOW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089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a patient, set priority, search or update details, view active patients, and discharge admitted records.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331720"/>
            <a:ext cx="349300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2331720"/>
            <a:ext cx="68580" cy="1874520"/>
          </a:xfrm>
          <a:prstGeom prst="rect">
            <a:avLst>
              <a:gd name="adj" fmla="val 106667"/>
            </a:avLst>
          </a:prstGeom>
          <a:solidFill>
            <a:srgbClr val="2D6D9C"/>
          </a:solidFill>
          <a:ln w="11430">
            <a:solidFill>
              <a:srgbClr val="2D6D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2487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TRACKING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44568" y="2834640"/>
            <a:ext cx="31089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one of five configured doctors and manage a 3 × 10 bed grid across General, ICU and Pediatric wards.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2331720"/>
            <a:ext cx="3493008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38160" y="2331720"/>
            <a:ext cx="68580" cy="1874520"/>
          </a:xfrm>
          <a:prstGeom prst="rect">
            <a:avLst>
              <a:gd name="adj" fmla="val 106667"/>
            </a:avLst>
          </a:prstGeom>
          <a:solidFill>
            <a:srgbClr val="287D52"/>
          </a:solidFill>
          <a:ln w="11430">
            <a:solidFill>
              <a:srgbClr val="287D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9328" y="24871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&amp; RECORDS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39328" y="2834640"/>
            <a:ext cx="31089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charge components, calculate a discharge total recursively, and create a plain-text discharge summary.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617720"/>
            <a:ext cx="11082528" cy="777240"/>
          </a:xfrm>
          <a:prstGeom prst="roundRect">
            <a:avLst>
              <a:gd name="adj" fmla="val 9412"/>
            </a:avLst>
          </a:prstGeom>
          <a:solidFill>
            <a:srgbClr val="FCEDEF"/>
          </a:solidFill>
          <a:ln w="11430">
            <a:solidFill>
              <a:srgbClr val="FCED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77316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0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NOTE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65960" y="4709160"/>
            <a:ext cx="9253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BCA learning prototype: console-based, single-user, with binary-file persistence. It is not a production hospital information system.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574243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design challenge is keeping patient records and the separate bed-occupancy file consistent.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FEATURES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Functional Scope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98424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29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patient</a:t>
            </a:r>
            <a:endParaRPr lang="en-US" sz="1310" dirty="0"/>
          </a:p>
        </p:txBody>
      </p:sp>
      <p:sp>
        <p:nvSpPr>
          <p:cNvPr id="9" name="Text 7"/>
          <p:cNvSpPr/>
          <p:nvPr/>
        </p:nvSpPr>
        <p:spPr>
          <a:xfrm>
            <a:off x="749808" y="258775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Auto-generated ID, basic demographic details and priority validation.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343400" y="178308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198424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172B4D"/>
          </a:solidFill>
          <a:ln w="11430">
            <a:solidFill>
              <a:srgbClr val="172B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2029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66360" y="20116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Emergency-first triage</a:t>
            </a:r>
            <a:endParaRPr lang="en-US" sz="1310" dirty="0"/>
          </a:p>
        </p:txBody>
      </p:sp>
      <p:sp>
        <p:nvSpPr>
          <p:cNvPr id="14" name="Text 12"/>
          <p:cNvSpPr/>
          <p:nvPr/>
        </p:nvSpPr>
        <p:spPr>
          <a:xfrm>
            <a:off x="4544568" y="258775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 sort places priority 1 before priority 2.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8138160" y="178308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198424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202996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61120" y="20116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assignment</a:t>
            </a:r>
            <a:endParaRPr lang="en-US" sz="1310" dirty="0"/>
          </a:p>
        </p:txBody>
      </p:sp>
      <p:sp>
        <p:nvSpPr>
          <p:cNvPr id="19" name="Text 17"/>
          <p:cNvSpPr/>
          <p:nvPr/>
        </p:nvSpPr>
        <p:spPr>
          <a:xfrm>
            <a:off x="8339328" y="258775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configured doctors with an in-memory limit of five patients each.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5020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172B4D"/>
          </a:solidFill>
          <a:ln w="11430">
            <a:solidFill>
              <a:srgbClr val="172B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9959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371600" y="39776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 &amp; bed allocation</a:t>
            </a:r>
            <a:endParaRPr lang="en-US" sz="1310" dirty="0"/>
          </a:p>
        </p:txBody>
      </p:sp>
      <p:sp>
        <p:nvSpPr>
          <p:cNvPr id="24" name="Text 22"/>
          <p:cNvSpPr/>
          <p:nvPr/>
        </p:nvSpPr>
        <p:spPr>
          <a:xfrm>
            <a:off x="749808" y="45537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wards, ten beds per ward, first free slot selection.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4343400" y="374904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26280" y="395020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39959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66360" y="39776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&amp; discharge</a:t>
            </a:r>
            <a:endParaRPr lang="en-US" sz="1310" dirty="0"/>
          </a:p>
        </p:txBody>
      </p:sp>
      <p:sp>
        <p:nvSpPr>
          <p:cNvPr id="29" name="Text 27"/>
          <p:cNvSpPr/>
          <p:nvPr/>
        </p:nvSpPr>
        <p:spPr>
          <a:xfrm>
            <a:off x="4544568" y="45537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Consultation, medicine, room/day and test charges; bill and text summary.</a:t>
            </a:r>
            <a:endParaRPr lang="en-US" sz="1030" dirty="0"/>
          </a:p>
        </p:txBody>
      </p:sp>
      <p:sp>
        <p:nvSpPr>
          <p:cNvPr id="30" name="Shape 28"/>
          <p:cNvSpPr/>
          <p:nvPr/>
        </p:nvSpPr>
        <p:spPr>
          <a:xfrm>
            <a:off x="8138160" y="3749040"/>
            <a:ext cx="3493008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1040" y="3950208"/>
            <a:ext cx="493776" cy="438912"/>
          </a:xfrm>
          <a:prstGeom prst="roundRect">
            <a:avLst>
              <a:gd name="adj" fmla="val 16667"/>
            </a:avLst>
          </a:prstGeom>
          <a:solidFill>
            <a:srgbClr val="172B4D"/>
          </a:solidFill>
          <a:ln w="11430">
            <a:solidFill>
              <a:srgbClr val="172B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21040" y="3995928"/>
            <a:ext cx="493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961120" y="39776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1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update &amp; summary</a:t>
            </a:r>
            <a:endParaRPr lang="en-US" sz="1310" dirty="0"/>
          </a:p>
        </p:txBody>
      </p:sp>
      <p:sp>
        <p:nvSpPr>
          <p:cNvPr id="34" name="Text 32"/>
          <p:cNvSpPr/>
          <p:nvPr/>
        </p:nvSpPr>
        <p:spPr>
          <a:xfrm>
            <a:off x="8339328" y="4553712"/>
            <a:ext cx="3063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by ID/name substring, edit selected fields and review totals.</a:t>
            </a:r>
            <a:endParaRPr lang="en-US" sz="1030" dirty="0"/>
          </a:p>
        </p:txBody>
      </p:sp>
      <p:sp>
        <p:nvSpPr>
          <p:cNvPr id="35" name="Shape 33"/>
          <p:cNvSpPr/>
          <p:nvPr/>
        </p:nvSpPr>
        <p:spPr>
          <a:xfrm>
            <a:off x="640080" y="5961888"/>
            <a:ext cx="2194560" cy="310896"/>
          </a:xfrm>
          <a:prstGeom prst="roundRect">
            <a:avLst>
              <a:gd name="adj" fmla="val 23529"/>
            </a:avLst>
          </a:prstGeom>
          <a:solidFill>
            <a:srgbClr val="FCEDEF"/>
          </a:solidFill>
          <a:ln w="11430">
            <a:solidFill>
              <a:srgbClr val="FCEDE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4944" y="5989320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OPTIONS 1–11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2971800" y="5961888"/>
            <a:ext cx="2560320" cy="310896"/>
          </a:xfrm>
          <a:prstGeom prst="roundRect">
            <a:avLst>
              <a:gd name="adj" fmla="val 23529"/>
            </a:avLst>
          </a:prstGeom>
          <a:solidFill>
            <a:srgbClr val="FFF6DE"/>
          </a:solidFill>
          <a:ln w="11430">
            <a:solidFill>
              <a:srgbClr val="FFF6D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26664" y="598932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C58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DEMO LOADER: 99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669280" y="5961888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F3F6FA"/>
          </a:solidFill>
          <a:ln w="11430">
            <a:solidFill>
              <a:srgbClr val="F3F6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4144" y="5989320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0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7269480" y="594360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4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99 deletes and recreates patient data. Use it only with disposable records.</a:t>
            </a:r>
            <a:endParaRPr lang="en-US" sz="9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CONTROL FLOW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Workflow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82496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program returns to the main menu after each operation and exits only when choice 0 is selected.</a:t>
            </a:r>
            <a:endParaRPr lang="en-US" sz="1150" dirty="0"/>
          </a:p>
        </p:txBody>
      </p:sp>
      <p:pic>
        <p:nvPicPr>
          <p:cNvPr id="6" name="Image 0" descr="/mnt/data/Smart_Hospital_Project/assets/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00" y="2011680"/>
            <a:ext cx="10053320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199632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i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High-level control flow and the main operation groups.</a:t>
            </a:r>
            <a:endParaRPr lang="en-US" sz="8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SYSTEM DESIGN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&amp; Persistence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82496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structures hold the working data; two binary files retain state between program runs.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48840"/>
            <a:ext cx="68580" cy="1417320"/>
          </a:xfrm>
          <a:prstGeom prst="rect">
            <a:avLst>
              <a:gd name="adj" fmla="val 10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230428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Patient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68096" y="2651760"/>
            <a:ext cx="311810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ID, name, age, gender, disease, priority, doctor/bed references, status and nested charges.</a:t>
            </a:r>
            <a:endParaRPr lang="en-US" sz="1010" dirty="0"/>
          </a:p>
        </p:txBody>
      </p:sp>
      <p:sp>
        <p:nvSpPr>
          <p:cNvPr id="10" name="Shape 8"/>
          <p:cNvSpPr/>
          <p:nvPr/>
        </p:nvSpPr>
        <p:spPr>
          <a:xfrm>
            <a:off x="4352544" y="214884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52544" y="2148840"/>
            <a:ext cx="68580" cy="1417320"/>
          </a:xfrm>
          <a:prstGeom prst="rect">
            <a:avLst>
              <a:gd name="adj" fmla="val 106667"/>
            </a:avLst>
          </a:prstGeom>
          <a:solidFill>
            <a:srgbClr val="2D6D9C"/>
          </a:solidFill>
          <a:ln w="11430">
            <a:solidFill>
              <a:srgbClr val="2D6D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230428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Charges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2651760"/>
            <a:ext cx="311810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Consultation, medicine, roomPerDay and tests. The four components are used in the bill calculation.</a:t>
            </a:r>
            <a:endParaRPr lang="en-US" sz="1010" dirty="0"/>
          </a:p>
        </p:txBody>
      </p:sp>
      <p:sp>
        <p:nvSpPr>
          <p:cNvPr id="14" name="Shape 12"/>
          <p:cNvSpPr/>
          <p:nvPr/>
        </p:nvSpPr>
        <p:spPr>
          <a:xfrm>
            <a:off x="8129016" y="2148840"/>
            <a:ext cx="3502152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29016" y="2148840"/>
            <a:ext cx="68580" cy="1417320"/>
          </a:xfrm>
          <a:prstGeom prst="rect">
            <a:avLst>
              <a:gd name="adj" fmla="val 106667"/>
            </a:avLst>
          </a:prstGeom>
          <a:solidFill>
            <a:srgbClr val="287D52"/>
          </a:solidFill>
          <a:ln w="11430">
            <a:solidFill>
              <a:srgbClr val="287D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2304288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 Doctor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30184" y="2651760"/>
            <a:ext cx="311810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ID, name, department and patientCount. Five records are initialised at program startup.</a:t>
            </a:r>
            <a:endParaRPr lang="en-US" sz="1010" dirty="0"/>
          </a:p>
        </p:txBody>
      </p:sp>
      <p:sp>
        <p:nvSpPr>
          <p:cNvPr id="18" name="Text 16"/>
          <p:cNvSpPr/>
          <p:nvPr/>
        </p:nvSpPr>
        <p:spPr>
          <a:xfrm>
            <a:off x="594360" y="390448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3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4360" y="4224528"/>
            <a:ext cx="109728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4306824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patients.dat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2880360" y="4306824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patient records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919472" y="4288536"/>
            <a:ext cx="6327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 on registration; locate and update a record using file position.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94360" y="4791456"/>
            <a:ext cx="10972800" cy="438912"/>
          </a:xfrm>
          <a:prstGeom prst="roundRect">
            <a:avLst>
              <a:gd name="adj" fmla="val 16667"/>
            </a:avLst>
          </a:prstGeom>
          <a:solidFill>
            <a:srgbClr val="F3F6FA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4873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beds.dat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2880360" y="4873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3 × 10 grid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919472" y="4855464"/>
            <a:ext cx="6327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bed-occupancy matrix when beds are allocated or released.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594360" y="5358384"/>
            <a:ext cx="1097280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5440680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discharge_&lt;id&gt;.txt</a:t>
            </a:r>
            <a:endParaRPr lang="en-US" sz="1120" dirty="0"/>
          </a:p>
        </p:txBody>
      </p:sp>
      <p:sp>
        <p:nvSpPr>
          <p:cNvPr id="29" name="Text 27"/>
          <p:cNvSpPr/>
          <p:nvPr/>
        </p:nvSpPr>
        <p:spPr>
          <a:xfrm>
            <a:off x="2880360" y="5440680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 summary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19472" y="5422392"/>
            <a:ext cx="6327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patient details, charges and the final bill after discharge.</a:t>
            </a:r>
            <a:endParaRPr lang="en-US" sz="930" dirty="0"/>
          </a:p>
        </p:txBody>
      </p:sp>
      <p:sp>
        <p:nvSpPr>
          <p:cNvPr id="31" name="Text 29"/>
          <p:cNvSpPr/>
          <p:nvPr/>
        </p:nvSpPr>
        <p:spPr>
          <a:xfrm>
            <a:off x="621792" y="6080760"/>
            <a:ext cx="10972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30" i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trade-off: raw binary structures are simple for coursework, but depend on the compiled structure layout and are not a database.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IMPLEMENTATION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Logic Used in the Code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37360"/>
            <a:ext cx="109728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90195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947672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417320" y="1847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Emergency-first triage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50808" y="1874520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FCEDEF"/>
          </a:solidFill>
          <a:ln w="11430">
            <a:solidFill>
              <a:srgbClr val="FCED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05672" y="1901952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BUBBLE SORT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417320" y="21305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list is sorted by priority value. Priority 1 is shown before priority 2; discharged records are omitted from the list.</a:t>
            </a:r>
            <a:endParaRPr lang="en-US" sz="1010" dirty="0"/>
          </a:p>
        </p:txBody>
      </p:sp>
      <p:sp>
        <p:nvSpPr>
          <p:cNvPr id="12" name="Shape 10"/>
          <p:cNvSpPr/>
          <p:nvPr/>
        </p:nvSpPr>
        <p:spPr>
          <a:xfrm>
            <a:off x="594360" y="2761488"/>
            <a:ext cx="109728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292608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D6D9C"/>
          </a:solidFill>
          <a:ln w="11430">
            <a:solidFill>
              <a:srgbClr val="2D6D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97180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417320" y="287121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 bill calculation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750808" y="2898648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EAF1F8"/>
          </a:solidFill>
          <a:ln w="11430">
            <a:solidFill>
              <a:srgbClr val="EAF1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05672" y="292608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D6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totalBill()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1417320" y="31546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one charge element, then calls itself for the remaining values. The base case returns zero when n reaches zero.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594360" y="3785616"/>
            <a:ext cx="109728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39502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287D52"/>
          </a:solidFill>
          <a:ln w="11430">
            <a:solidFill>
              <a:srgbClr val="287D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995928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417320" y="389534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Recursive emergency count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50808" y="3922776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EAF6EF"/>
          </a:solidFill>
          <a:ln w="11430">
            <a:solidFill>
              <a:srgbClr val="EAF6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05672" y="395020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countEmergency()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1417320" y="4178808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the last Patient in the active range and adds one when priority equals 1, then recurses on n − 1.</a:t>
            </a:r>
            <a:endParaRPr lang="en-US" sz="1010" dirty="0"/>
          </a:p>
        </p:txBody>
      </p:sp>
      <p:sp>
        <p:nvSpPr>
          <p:cNvPr id="26" name="Shape 24"/>
          <p:cNvSpPr/>
          <p:nvPr/>
        </p:nvSpPr>
        <p:spPr>
          <a:xfrm>
            <a:off x="594360" y="4809744"/>
            <a:ext cx="109728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9808" y="4974336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C58A12"/>
          </a:solidFill>
          <a:ln w="11430">
            <a:solidFill>
              <a:srgbClr val="C58A1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020056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417320" y="49194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Pointer access &amp;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750808" y="4946904"/>
            <a:ext cx="2468880" cy="310896"/>
          </a:xfrm>
          <a:prstGeom prst="roundRect">
            <a:avLst>
              <a:gd name="adj" fmla="val 23529"/>
            </a:avLst>
          </a:prstGeom>
          <a:solidFill>
            <a:srgbClr val="FFF6DE"/>
          </a:solidFill>
          <a:ln w="11430">
            <a:solidFill>
              <a:srgbClr val="FFF6D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05672" y="497433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C58A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malloc / calloc / free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1417320" y="5202936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arrays support patient searches and summaries. Pointer arithmetic addresses a record; fseek/fwrite updates stored data.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594360" y="5989320"/>
            <a:ext cx="10972800" cy="320040"/>
          </a:xfrm>
          <a:prstGeom prst="roundRect">
            <a:avLst>
              <a:gd name="adj" fmla="val 22857"/>
            </a:avLst>
          </a:prstGeom>
          <a:solidFill>
            <a:srgbClr val="FCEDEF"/>
          </a:solidFill>
          <a:ln w="11430">
            <a:solidFill>
              <a:srgbClr val="FCEDE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" y="603504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note: two GCC format-overflow warnings remain in the discharge receipt’s temporary sprintf() buffer.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CONSOLE EXAMPLES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&amp; Live Output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55648"/>
            <a:ext cx="3749040" cy="4224528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pic>
        <p:nvPicPr>
          <p:cNvPr id="6" name="Image 0" descr="/mnt/data/Smart_Hospital_Project/assets/terminal/main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50368"/>
            <a:ext cx="3529584" cy="307847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558698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MENU</a:t>
            </a:r>
            <a:endParaRPr lang="en-US" sz="940" dirty="0"/>
          </a:p>
        </p:txBody>
      </p:sp>
      <p:sp>
        <p:nvSpPr>
          <p:cNvPr id="8" name="Shape 5"/>
          <p:cNvSpPr/>
          <p:nvPr/>
        </p:nvSpPr>
        <p:spPr>
          <a:xfrm>
            <a:off x="4480560" y="1755648"/>
            <a:ext cx="7150608" cy="4224528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pic>
        <p:nvPicPr>
          <p:cNvPr id="9" name="Image 1" descr="/mnt/data/Smart_Hospital_Project/assets/terminal/tri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932" y="2011680"/>
            <a:ext cx="6859864" cy="32735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3440" y="5586984"/>
            <a:ext cx="6766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LIST  •  EMERGENCY FIRST</a:t>
            </a:r>
            <a:endParaRPr lang="en-US" sz="940" dirty="0"/>
          </a:p>
        </p:txBody>
      </p:sp>
      <p:sp>
        <p:nvSpPr>
          <p:cNvPr id="11" name="Text 7"/>
          <p:cNvSpPr/>
          <p:nvPr/>
        </p:nvSpPr>
        <p:spPr>
          <a:xfrm>
            <a:off x="640080" y="6108192"/>
            <a:ext cx="10972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i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panels were rendered from captured stdout of the supplied C program after a GCC build.</a:t>
            </a:r>
            <a:endParaRPr lang="en-US" sz="87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SMOKE RUN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Results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55648"/>
            <a:ext cx="25786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55648"/>
            <a:ext cx="64008" cy="914400"/>
          </a:xfrm>
          <a:prstGeom prst="rect">
            <a:avLst>
              <a:gd name="adj" fmla="val 114286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patient records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64992" y="1755648"/>
            <a:ext cx="25786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64992" y="1755648"/>
            <a:ext cx="64008" cy="914400"/>
          </a:xfrm>
          <a:prstGeom prst="rect">
            <a:avLst>
              <a:gd name="adj" fmla="val 114286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7872" y="187452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547872" y="2286000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Emergency-priority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35624" y="1755648"/>
            <a:ext cx="25786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35624" y="1755648"/>
            <a:ext cx="64008" cy="914400"/>
          </a:xfrm>
          <a:prstGeom prst="rect">
            <a:avLst>
              <a:gd name="adj" fmla="val 114286"/>
            </a:avLst>
          </a:prstGeom>
          <a:solidFill>
            <a:srgbClr val="2D6D9C"/>
          </a:solidFill>
          <a:ln w="11430">
            <a:solidFill>
              <a:srgbClr val="2D6D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8504" y="187452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D6D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6318504" y="2286000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bed positions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06256" y="1755648"/>
            <a:ext cx="257860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906256" y="1755648"/>
            <a:ext cx="64008" cy="914400"/>
          </a:xfrm>
          <a:prstGeom prst="rect">
            <a:avLst>
              <a:gd name="adj" fmla="val 114286"/>
            </a:avLst>
          </a:prstGeom>
          <a:solidFill>
            <a:srgbClr val="287D52"/>
          </a:solidFill>
          <a:ln w="11430">
            <a:solidFill>
              <a:srgbClr val="287D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89136" y="1874520"/>
            <a:ext cx="2258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089136" y="2286000"/>
            <a:ext cx="2258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beds initially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2971800"/>
            <a:ext cx="5669280" cy="2468880"/>
          </a:xfrm>
          <a:prstGeom prst="roundRect">
            <a:avLst>
              <a:gd name="adj" fmla="val 2963"/>
            </a:avLst>
          </a:prstGeom>
          <a:solidFill>
            <a:srgbClr val="10182A"/>
          </a:solidFill>
          <a:ln w="11430">
            <a:solidFill>
              <a:srgbClr val="10182A"/>
            </a:solidFill>
            <a:prstDash val="solid"/>
          </a:ln>
        </p:spPr>
      </p:sp>
      <p:pic>
        <p:nvPicPr>
          <p:cNvPr id="22" name="Image 0" descr="/mnt/data/Smart_Hospital_Project/assets/terminal/disch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2318" y="3108960"/>
            <a:ext cx="2953365" cy="20574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777240" y="5230368"/>
            <a:ext cx="5303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D7DF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 RECEIPT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6565392" y="2971800"/>
            <a:ext cx="4901184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65392" y="2971800"/>
            <a:ext cx="68580" cy="2468880"/>
          </a:xfrm>
          <a:prstGeom prst="rect">
            <a:avLst>
              <a:gd name="adj" fmla="val 106667"/>
            </a:avLst>
          </a:prstGeom>
          <a:solidFill>
            <a:srgbClr val="287D52"/>
          </a:solidFill>
          <a:ln w="11430">
            <a:solidFill>
              <a:srgbClr val="287D5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66560" y="3127248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1 • BILL TOTAL</a:t>
            </a:r>
            <a:endParaRPr lang="en-US" sz="1320" dirty="0"/>
          </a:p>
        </p:txBody>
      </p:sp>
      <p:sp>
        <p:nvSpPr>
          <p:cNvPr id="27" name="Text 24"/>
          <p:cNvSpPr/>
          <p:nvPr/>
        </p:nvSpPr>
        <p:spPr>
          <a:xfrm>
            <a:off x="6766560" y="3474720"/>
            <a:ext cx="4517136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   Rs. 500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Medicine         Rs. 200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(1 day)  Rs. 800</a:t>
            </a: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              Rs. 100</a:t>
            </a:r>
            <a:endParaRPr lang="en-US" sz="1210" dirty="0"/>
          </a:p>
          <a:p>
            <a:pPr algn="l" indent="0" marL="0">
              <a:buNone/>
            </a:pPr>
            <a:endParaRPr lang="en-US" sz="1210" dirty="0"/>
          </a:p>
          <a:p>
            <a:pPr algn="l" indent="0" marL="0">
              <a:buNone/>
            </a:pPr>
            <a:r>
              <a:rPr lang="en-US" sz="121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           Rs. 1,600.00</a:t>
            </a:r>
            <a:endParaRPr lang="en-US" sz="1210" dirty="0"/>
          </a:p>
        </p:txBody>
      </p:sp>
      <p:sp>
        <p:nvSpPr>
          <p:cNvPr id="28" name="Text 25"/>
          <p:cNvSpPr/>
          <p:nvPr/>
        </p:nvSpPr>
        <p:spPr>
          <a:xfrm>
            <a:off x="685800" y="5824728"/>
            <a:ext cx="10881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smoke flow: load demo data → triage → bed grid → summary → discharge patient 1 → exit. The discharge file was created in a temporary folder.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QUALITY CHECK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Known Limitations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783080"/>
            <a:ext cx="5349240" cy="434340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SMOKE-TESTED PATHS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248716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70432" y="24871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loader creates five records in a disposable folder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850392" y="299008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70432" y="299008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shows Emergency before Normal records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50392" y="349300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70432" y="349300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 grid reports 5 occupied and 25 free beds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50392" y="399592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70432" y="399592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reports 5 records and 2 Emergency-priority records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850392" y="449884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70432" y="449884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Discharge calculates Rs. 1,600.00 and writes discharge_1.txt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850392" y="5001768"/>
            <a:ext cx="246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70432" y="5001768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returns control from the main loop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6172200" y="178308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FCEDEF"/>
          </a:solidFill>
          <a:ln w="11430">
            <a:solidFill>
              <a:srgbClr val="F1C7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20116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TO ADDRESS NEXT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46520" y="2551176"/>
            <a:ext cx="109728" cy="109728"/>
          </a:xfrm>
          <a:prstGeom prst="roundRect">
            <a:avLst>
              <a:gd name="adj" fmla="val 6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2496312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GCC format-overflow warnings in receipt line formatting.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6446520" y="3154680"/>
            <a:ext cx="109728" cy="109728"/>
          </a:xfrm>
          <a:prstGeom prst="roundRect">
            <a:avLst>
              <a:gd name="adj" fmla="val 6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099816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load counts are not rebuilt from saved records after restart.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6446520" y="3758184"/>
            <a:ext cx="109728" cy="109728"/>
          </a:xfrm>
          <a:prstGeom prst="roundRect">
            <a:avLst>
              <a:gd name="adj" fmla="val 6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370332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 allocation reserves a bed before patient existence/eligibility is confirmed.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6446520" y="4361688"/>
            <a:ext cx="109728" cy="109728"/>
          </a:xfrm>
          <a:prstGeom prst="roundRect">
            <a:avLst>
              <a:gd name="adj" fmla="val 6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4306824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99 deletes and recreates patients.dat.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6446520" y="4965192"/>
            <a:ext cx="109728" cy="109728"/>
          </a:xfrm>
          <a:prstGeom prst="roundRect">
            <a:avLst>
              <a:gd name="adj" fmla="val 66667"/>
            </a:avLst>
          </a:prstGeom>
          <a:solidFill>
            <a:srgbClr val="D71920"/>
          </a:solidFill>
          <a:ln w="11430">
            <a:solidFill>
              <a:srgbClr val="D7192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4910328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File-operation checks and input validation need strengthening; no login or multi-user protection.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658368" y="6236208"/>
            <a:ext cx="10881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1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succeeds; known warnings are reported rather than hidden.</a:t>
            </a:r>
            <a:endParaRPr lang="en-US" sz="9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59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12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CONCLUSION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1051560"/>
            <a:ext cx="11155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Build, Run &amp; Next Steps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27048"/>
            <a:ext cx="11183112" cy="0"/>
          </a:xfrm>
          <a:prstGeom prst="line">
            <a:avLst/>
          </a:prstGeom>
          <a:noFill/>
          <a:ln w="13970">
            <a:solidFill>
              <a:srgbClr val="D8E0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5486400" cy="2075688"/>
          </a:xfrm>
          <a:prstGeom prst="roundRect">
            <a:avLst>
              <a:gd name="adj" fmla="val 3524"/>
            </a:avLst>
          </a:prstGeom>
          <a:solidFill>
            <a:srgbClr val="172B4D"/>
          </a:solidFill>
          <a:ln w="11430">
            <a:solidFill>
              <a:srgbClr val="172B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4846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FFB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COMMAND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395728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gcc -std=c99 -Wall -Wextra</a:t>
            </a:r>
            <a:endParaRPr lang="en-US" sz="1250" dirty="0"/>
          </a:p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src/main.c -o hospital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3127248"/>
            <a:ext cx="4800600" cy="0"/>
          </a:xfrm>
          <a:prstGeom prst="line">
            <a:avLst/>
          </a:prstGeom>
          <a:noFill/>
          <a:ln w="12700">
            <a:solidFill>
              <a:srgbClr val="43557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264408"/>
            <a:ext cx="47548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20" dirty="0">
                <a:solidFill>
                  <a:srgbClr val="DC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/ Linux:  ./hospital</a:t>
            </a:r>
            <a:endParaRPr lang="en-US" sz="1020" dirty="0"/>
          </a:p>
          <a:p>
            <a:pPr algn="l" indent="0" marL="0">
              <a:buNone/>
            </a:pPr>
            <a:r>
              <a:rPr lang="en-US" sz="1020" dirty="0">
                <a:solidFill>
                  <a:srgbClr val="DCE4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(MinGW):  hospital.exe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6446520" y="1783080"/>
            <a:ext cx="5138928" cy="2075688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46520" y="1783080"/>
            <a:ext cx="68580" cy="2075688"/>
          </a:xfrm>
          <a:prstGeom prst="rect">
            <a:avLst>
              <a:gd name="adj" fmla="val 106667"/>
            </a:avLst>
          </a:prstGeom>
          <a:solidFill>
            <a:srgbClr val="C58A12"/>
          </a:solidFill>
          <a:ln w="11430">
            <a:solidFill>
              <a:srgbClr val="C58A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47688" y="19385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DEMO PRACTICE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47688" y="2286000"/>
            <a:ext cx="475488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option 99 only in a disposable folder. Runtime files are written to the current working directory: patients.dat, beds.dat and discharge_&lt;id&gt;.txt.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30" kern="0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45994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demonstrates a connected C workflow using structures, arrays, binary file handling, pointers, dynamic memory and recursion.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58368" y="5349240"/>
            <a:ext cx="3456432" cy="658368"/>
          </a:xfrm>
          <a:prstGeom prst="roundRect">
            <a:avLst>
              <a:gd name="adj" fmla="val 11111"/>
            </a:avLst>
          </a:prstGeom>
          <a:solidFill>
            <a:srgbClr val="FCEDE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" y="55138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71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5477256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receipt formatting warnings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434840" y="5349240"/>
            <a:ext cx="3456432" cy="658368"/>
          </a:xfrm>
          <a:prstGeom prst="roundRect">
            <a:avLst>
              <a:gd name="adj" fmla="val 11111"/>
            </a:avLst>
          </a:prstGeom>
          <a:solidFill>
            <a:srgbClr val="F3F6FA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0288" y="55138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B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56632" y="5477256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before allocating a bed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211312" y="5349240"/>
            <a:ext cx="3456432" cy="658368"/>
          </a:xfrm>
          <a:prstGeom prst="roundRect">
            <a:avLst>
              <a:gd name="adj" fmla="val 11111"/>
            </a:avLst>
          </a:prstGeom>
          <a:solidFill>
            <a:srgbClr val="EAF6EF"/>
          </a:solidFill>
          <a:ln w="11430">
            <a:solidFill>
              <a:srgbClr val="D8E0E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66760" y="5513832"/>
            <a:ext cx="3474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8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33104" y="5477256"/>
            <a:ext cx="267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6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doctor load and check file I/O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685800" y="6144768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68328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5B677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Chandigarh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Hospital Management System</dc:title>
  <dc:subject>BCA academic project — Computer Programming (26CAH-101)</dc:subject>
  <dc:creator>Palash Behura</dc:creator>
  <cp:lastModifiedBy>Palash Behura</cp:lastModifiedBy>
  <cp:revision>1</cp:revision>
  <dcterms:created xsi:type="dcterms:W3CDTF">2026-10-27T15:04:26Z</dcterms:created>
  <dcterms:modified xsi:type="dcterms:W3CDTF">2026-10-27T15:04:26Z</dcterms:modified>
</cp:coreProperties>
</file>